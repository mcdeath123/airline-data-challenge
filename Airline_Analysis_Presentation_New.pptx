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8CA41-3AD7-4649-B4BD-73086A606E81}" type="datetimeFigureOut">
              <a:rPr lang="en-PH" smtClean="0"/>
              <a:t>25/05/2026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82D4A-3C5E-48D4-8E8E-7D6A1708B6E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3079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82D4A-3C5E-48D4-8E8E-7D6A1708B6EC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1467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FF6E40"/>
                </a:solidFill>
                <a:latin typeface="Trebuchet MS"/>
              </a:defRPr>
            </a:pPr>
            <a:r>
              <a:rPr dirty="0"/>
              <a:t>BUSINESS INTELLIGENCE PITCH</a:t>
            </a:r>
          </a:p>
          <a:p>
            <a:pPr>
              <a:spcAft>
                <a:spcPts val="800"/>
              </a:spcAft>
              <a:defRPr sz="4400" b="1">
                <a:solidFill>
                  <a:srgbClr val="F3F4F6"/>
                </a:solidFill>
                <a:latin typeface="Trebuchet MS"/>
              </a:defRPr>
            </a:pPr>
            <a:r>
              <a:rPr dirty="0"/>
              <a:t>US MARKET ENTRY STRATEGY</a:t>
            </a:r>
          </a:p>
          <a:p>
            <a:pPr>
              <a:spcAft>
                <a:spcPts val="5000"/>
              </a:spcAft>
              <a:defRPr sz="1600">
                <a:solidFill>
                  <a:srgbClr val="9CA3AF"/>
                </a:solidFill>
                <a:latin typeface="Segoe UI"/>
              </a:defRPr>
            </a:pPr>
            <a:r>
              <a:rPr dirty="0"/>
              <a:t>1Q2019 Aviation Market Analysis &amp; Route Investment Recommendations</a:t>
            </a:r>
          </a:p>
          <a:p>
            <a:pPr>
              <a:defRPr sz="1100">
                <a:solidFill>
                  <a:srgbClr val="FF6E40"/>
                </a:solidFill>
                <a:latin typeface="Segoe UI"/>
              </a:defRPr>
            </a:pPr>
            <a:r>
              <a:rPr dirty="0"/>
              <a:t>Airline</a:t>
            </a:r>
            <a:r>
              <a:rPr lang="en-US" dirty="0"/>
              <a:t> Data</a:t>
            </a:r>
            <a:r>
              <a:rPr dirty="0"/>
              <a:t> Challenge  |  Corporate Strategy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01 / STRATEGIC BLUEPRINT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The Challenge</a:t>
            </a:r>
            <a:r>
              <a:rPr sz="1300">
                <a:solidFill>
                  <a:srgbClr val="9CA3AF"/>
                </a:solidFill>
                <a:latin typeface="Segoe UI"/>
              </a:rPr>
              <a:t>: Establish a highly competitive domestic airline in the United States, utilizing an initial fleet of </a:t>
            </a:r>
            <a:r>
              <a:rPr sz="1300" b="1">
                <a:solidFill>
                  <a:srgbClr val="F3F4F6"/>
                </a:solidFill>
                <a:latin typeface="Segoe UI"/>
              </a:rPr>
              <a:t>5 aircraft</a:t>
            </a:r>
            <a:r>
              <a:rPr sz="1300">
                <a:solidFill>
                  <a:srgbClr val="9CA3AF"/>
                </a:solidFill>
                <a:latin typeface="Segoe UI"/>
              </a:rPr>
              <a:t>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Upfront Aircraft Cost</a:t>
            </a:r>
            <a:r>
              <a:rPr sz="1300">
                <a:solidFill>
                  <a:srgbClr val="9CA3AF"/>
                </a:solidFill>
                <a:latin typeface="Segoe UI"/>
              </a:rPr>
              <a:t>: A substantial upfront capital expenditure of </a:t>
            </a:r>
            <a:r>
              <a:rPr sz="1300" b="1">
                <a:solidFill>
                  <a:srgbClr val="F3F4F6"/>
                </a:solidFill>
                <a:latin typeface="Segoe UI"/>
              </a:rPr>
              <a:t>$90 million per aircraft</a:t>
            </a:r>
            <a:r>
              <a:rPr sz="1300">
                <a:solidFill>
                  <a:srgbClr val="9CA3AF"/>
                </a:solidFill>
                <a:latin typeface="Segoe UI"/>
              </a:rPr>
              <a:t> ($450 million portfolio total).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Core Motto</a:t>
            </a:r>
            <a:r>
              <a:rPr sz="1300">
                <a:solidFill>
                  <a:srgbClr val="9CA3AF"/>
                </a:solidFill>
                <a:latin typeface="Segoe UI"/>
              </a:rPr>
              <a:t>: *'On time, for you.'* Our brand is anchored on punctuality, which demands incorporating real-world delays into our financial risk evaluations.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Recommended Solution</a:t>
            </a:r>
            <a:r>
              <a:rPr sz="1300">
                <a:solidFill>
                  <a:srgbClr val="9CA3AF"/>
                </a:solidFill>
                <a:latin typeface="Segoe UI"/>
              </a:rPr>
              <a:t>: Operate a diversified network of 5 highly liquid transcontinental and regional routes, generating </a:t>
            </a:r>
            <a:r>
              <a:rPr sz="1300" b="1">
                <a:solidFill>
                  <a:srgbClr val="F3F4F6"/>
                </a:solidFill>
                <a:latin typeface="Segoe UI"/>
              </a:rPr>
              <a:t>$502.2M in profit</a:t>
            </a:r>
            <a:r>
              <a:rPr sz="1300">
                <a:solidFill>
                  <a:srgbClr val="9CA3AF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45920"/>
            <a:ext cx="2194560" cy="13716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2194560" cy="1371600"/>
          </a:xfrm>
          <a:prstGeom prst="rect">
            <a:avLst/>
          </a:prstGeom>
          <a:noFill/>
        </p:spPr>
        <p:txBody>
          <a:bodyPr wrap="square" tIns="137160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FFC13B"/>
                </a:solidFill>
                <a:latin typeface="Trebuchet MS"/>
              </a:defRPr>
            </a:pPr>
            <a:r>
              <a:t>$450M</a:t>
            </a:r>
          </a:p>
          <a:p>
            <a:pPr algn="ctr">
              <a:defRPr sz="900" b="1">
                <a:solidFill>
                  <a:srgbClr val="9CA3AF"/>
                </a:solidFill>
                <a:latin typeface="Segoe UI"/>
              </a:defRPr>
            </a:pPr>
            <a:r>
              <a:t>FLEET CAPITAL CAPEX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1645920"/>
            <a:ext cx="2194560" cy="13716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65615" y="1645920"/>
            <a:ext cx="2194560" cy="1371600"/>
          </a:xfrm>
          <a:prstGeom prst="rect">
            <a:avLst/>
          </a:prstGeom>
          <a:noFill/>
        </p:spPr>
        <p:txBody>
          <a:bodyPr wrap="square" tIns="137160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FFC13B"/>
                </a:solidFill>
                <a:latin typeface="Trebuchet MS"/>
              </a:defRPr>
            </a:pPr>
            <a:r>
              <a:t>5</a:t>
            </a:r>
          </a:p>
          <a:p>
            <a:pPr algn="ctr">
              <a:defRPr sz="900" b="1">
                <a:solidFill>
                  <a:srgbClr val="9CA3AF"/>
                </a:solidFill>
                <a:latin typeface="Segoe UI"/>
              </a:defRPr>
            </a:pPr>
            <a:r>
              <a:t>AIRCRAFT 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383280"/>
            <a:ext cx="2194560" cy="13716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3383280"/>
            <a:ext cx="2194560" cy="1371600"/>
          </a:xfrm>
          <a:prstGeom prst="rect">
            <a:avLst/>
          </a:prstGeom>
          <a:noFill/>
        </p:spPr>
        <p:txBody>
          <a:bodyPr wrap="square" tIns="137160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FFC13B"/>
                </a:solidFill>
                <a:latin typeface="Trebuchet MS"/>
              </a:defRPr>
            </a:pPr>
            <a:r>
              <a:t>$502.2M</a:t>
            </a:r>
          </a:p>
          <a:p>
            <a:pPr algn="ctr">
              <a:defRPr sz="900" b="1">
                <a:solidFill>
                  <a:srgbClr val="9CA3AF"/>
                </a:solidFill>
                <a:latin typeface="Segoe UI"/>
              </a:defRPr>
            </a:pPr>
            <a:r>
              <a:t>PORTFOLIO NET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65615" y="3383280"/>
            <a:ext cx="2194560" cy="13716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65615" y="3383280"/>
            <a:ext cx="2194560" cy="1371600"/>
          </a:xfrm>
          <a:prstGeom prst="rect">
            <a:avLst/>
          </a:prstGeom>
          <a:noFill/>
        </p:spPr>
        <p:txBody>
          <a:bodyPr wrap="square" tIns="137160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FFC13B"/>
                </a:solidFill>
                <a:latin typeface="Trebuchet MS"/>
              </a:defRPr>
            </a:pPr>
            <a:r>
              <a:t>65.5%</a:t>
            </a:r>
          </a:p>
          <a:p>
            <a:pPr algn="ctr">
              <a:defRPr sz="900" b="1">
                <a:solidFill>
                  <a:srgbClr val="9CA3AF"/>
                </a:solidFill>
                <a:latin typeface="Segoe UI"/>
              </a:defRPr>
            </a:pPr>
            <a:r>
              <a:t>AVERAGE OCCUPANCY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5120640"/>
            <a:ext cx="4693615" cy="10972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5166360"/>
            <a:ext cx="45107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STRATEGIC MANDATE:</a:t>
            </a:r>
          </a:p>
          <a:p>
            <a:pPr>
              <a:defRPr sz="1000">
                <a:solidFill>
                  <a:srgbClr val="F3F4F6"/>
                </a:solidFill>
                <a:latin typeface="Segoe UI"/>
              </a:defRPr>
            </a:pPr>
            <a:r>
              <a:t>Target high-occupancy transcontinental channels and extreme-yield short hauls to lock in market dominance and accelerate capital amortization.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02 / DATA MANAGEMENT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Data Quality &amp; Imputation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6E40"/>
                </a:solidFill>
                <a:latin typeface="Trebuchet MS"/>
              </a:defRPr>
            </a:pPr>
            <a:r>
              <a:t>1. Reward Ticket &amp; Security Fee Clean</a:t>
            </a:r>
          </a:p>
          <a:p>
            <a:pPr>
              <a:lnSpc>
                <a:spcPct val="110000"/>
              </a:lnSpc>
              <a:defRPr sz="1050">
                <a:solidFill>
                  <a:srgbClr val="9CA3AF"/>
                </a:solidFill>
                <a:latin typeface="Segoe UI"/>
              </a:defRPr>
            </a:pPr>
            <a:r>
              <a:t>Over 5% of fares were under $11 (the standard Sept 11 security fee). Passenger yield is distorted if included. Filtered out all tickets under $50 (reward tickets) and over $5,000 (corrupted segment rates) to isolate commercial fares.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645920"/>
            <a:ext cx="5120640" cy="21945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6695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C13B"/>
                </a:solidFill>
                <a:latin typeface="Trebuchet MS"/>
              </a:defRPr>
            </a:pPr>
            <a:r>
              <a:t>2. Missing Distance Imputation</a:t>
            </a:r>
          </a:p>
          <a:p>
            <a:pPr>
              <a:lnSpc>
                <a:spcPct val="110000"/>
              </a:lnSpc>
              <a:defRPr sz="1050">
                <a:solidFill>
                  <a:srgbClr val="9CA3AF"/>
                </a:solidFill>
                <a:latin typeface="Segoe UI"/>
              </a:defRPr>
            </a:pPr>
            <a:r>
              <a:t>We encountered 2,700 records containing null distances or **** characters. Imputed using the median distance of all non-null flights on the exact same directed route (e.g. LAX-&gt;JFK). Protects distance-based cost calculations ($9.18/mi).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C13B"/>
                </a:solidFill>
                <a:latin typeface="Trebuchet MS"/>
              </a:defRPr>
            </a:pPr>
            <a:r>
              <a:t>3. Diverted Flight Delay Management</a:t>
            </a:r>
          </a:p>
          <a:p>
            <a:pPr>
              <a:lnSpc>
                <a:spcPct val="110000"/>
              </a:lnSpc>
              <a:defRPr sz="1050">
                <a:solidFill>
                  <a:srgbClr val="9CA3AF"/>
                </a:solidFill>
                <a:latin typeface="Segoe UI"/>
              </a:defRPr>
            </a:pPr>
            <a:r>
              <a:t>Identified 4,377 non-cancelled flights that had valid departure delays but null arrival delays (representing diverted flights). Imputed arrival delay using the departure delay value to preserve volume and delay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4114800"/>
            <a:ext cx="5120640" cy="21945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6695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6E40"/>
                </a:solidFill>
                <a:latin typeface="Trebuchet MS"/>
              </a:defRPr>
            </a:pPr>
            <a:r>
              <a:t>4. Mixed-Type Format Clean</a:t>
            </a:r>
          </a:p>
          <a:p>
            <a:pPr>
              <a:lnSpc>
                <a:spcPct val="110000"/>
              </a:lnSpc>
              <a:defRPr sz="1050">
                <a:solidFill>
                  <a:srgbClr val="9CA3AF"/>
                </a:solidFill>
                <a:latin typeface="Segoe UI"/>
              </a:defRPr>
            </a:pPr>
            <a:r>
              <a:t>Raw datasets contained massive formatting anomalies like '$$$' in air times and '$ 200.00' string values in ticket fares. Designed a high-speed cleaning pipeline that stripped currency symbols and coerced data to clean numeric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03 / DATA ENGINEERING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Engineered Field Formulas &amp; Metadata Dictionary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54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6E40"/>
                </a:solidFill>
                <a:latin typeface="Trebuchet MS"/>
              </a:defRPr>
            </a:pPr>
            <a:r>
              <a:t>PASSENGERS</a:t>
            </a:r>
          </a:p>
          <a:p>
            <a:pPr>
              <a:spcAft>
                <a:spcPts val="600"/>
              </a:spcAft>
              <a:defRPr sz="1000" b="1">
                <a:solidFill>
                  <a:srgbClr val="F3F4F6"/>
                </a:solidFill>
                <a:latin typeface="Segoe UI"/>
              </a:defRPr>
            </a:pPr>
            <a:r>
              <a:t>Formula: 200 * Occupancy Rate</a:t>
            </a:r>
          </a:p>
          <a:p>
            <a:pPr>
              <a:lnSpc>
                <a:spcPct val="110000"/>
              </a:lnSpc>
              <a:defRPr sz="900">
                <a:solidFill>
                  <a:srgbClr val="9CA3AF"/>
                </a:solidFill>
                <a:latin typeface="Segoe UI"/>
              </a:defRPr>
            </a:pPr>
            <a:r>
              <a:t>Expected passenger load per leg. Fixed mainline capacity scaled by real Flights occupancy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C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62856" y="1783080"/>
            <a:ext cx="3054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C13B"/>
                </a:solidFill>
                <a:latin typeface="Trebuchet MS"/>
              </a:defRPr>
            </a:pPr>
            <a:r>
              <a:t>REVENUE_TICKET</a:t>
            </a:r>
          </a:p>
          <a:p>
            <a:pPr>
              <a:spcAft>
                <a:spcPts val="600"/>
              </a:spcAft>
              <a:defRPr sz="1000" b="1">
                <a:solidFill>
                  <a:srgbClr val="F3F4F6"/>
                </a:solidFill>
                <a:latin typeface="Segoe UI"/>
              </a:defRPr>
            </a:pPr>
            <a:r>
              <a:t>Formula: Passengers * (Avg Fare / 2)</a:t>
            </a:r>
          </a:p>
          <a:p>
            <a:pPr>
              <a:lnSpc>
                <a:spcPct val="110000"/>
              </a:lnSpc>
              <a:defRPr sz="900">
                <a:solidFill>
                  <a:srgbClr val="9CA3AF"/>
                </a:solidFill>
                <a:latin typeface="Segoe UI"/>
              </a:defRPr>
            </a:pPr>
            <a:r>
              <a:t>Isolates flight leg fare yield. divided by 2 because joined Average Fare represents a round trip.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C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2" y="1783080"/>
            <a:ext cx="3054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C13B"/>
                </a:solidFill>
                <a:latin typeface="Trebuchet MS"/>
              </a:defRPr>
            </a:pPr>
            <a:r>
              <a:t>REVENUE_BAGGAGE</a:t>
            </a:r>
          </a:p>
          <a:p>
            <a:pPr>
              <a:spcAft>
                <a:spcPts val="600"/>
              </a:spcAft>
              <a:defRPr sz="1000" b="1">
                <a:solidFill>
                  <a:srgbClr val="F3F4F6"/>
                </a:solidFill>
                <a:latin typeface="Segoe UI"/>
              </a:defRPr>
            </a:pPr>
            <a:r>
              <a:t>Formula: Passengers * 50% * $35.00</a:t>
            </a:r>
          </a:p>
          <a:p>
            <a:pPr>
              <a:lnSpc>
                <a:spcPct val="110000"/>
              </a:lnSpc>
              <a:defRPr sz="900">
                <a:solidFill>
                  <a:srgbClr val="9CA3AF"/>
                </a:solidFill>
                <a:latin typeface="Segoe UI"/>
              </a:defRPr>
            </a:pPr>
            <a:r>
              <a:t>Ancillary baggage revenue per leg. Assumes a $35 checked bag fee at a conservative 50% check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28416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3054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3D59"/>
                </a:solidFill>
                <a:latin typeface="Trebuchet MS"/>
              </a:defRPr>
            </a:pPr>
            <a:r>
              <a:rPr dirty="0"/>
              <a:t>COST_DISTANCE</a:t>
            </a:r>
          </a:p>
          <a:p>
            <a:pPr>
              <a:spcAft>
                <a:spcPts val="600"/>
              </a:spcAft>
              <a:defRPr sz="1000" b="1">
                <a:solidFill>
                  <a:srgbClr val="F3F4F6"/>
                </a:solidFill>
                <a:latin typeface="Segoe UI"/>
              </a:defRPr>
            </a:pPr>
            <a:r>
              <a:rPr dirty="0"/>
              <a:t>Formula: Distance * $9.18 / mile</a:t>
            </a:r>
          </a:p>
          <a:p>
            <a:pPr>
              <a:lnSpc>
                <a:spcPct val="110000"/>
              </a:lnSpc>
              <a:defRPr sz="900">
                <a:solidFill>
                  <a:srgbClr val="9CA3AF"/>
                </a:solidFill>
                <a:latin typeface="Segoe UI"/>
              </a:defRPr>
            </a:pPr>
            <a:r>
              <a:rPr dirty="0"/>
              <a:t>Variable operating costs: fuel, crew, maintenance ($8.00/mi) + depreciation, insurance ($1.18/mi).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023360"/>
            <a:ext cx="3328416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4160520"/>
            <a:ext cx="3054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3D59"/>
                </a:solidFill>
                <a:latin typeface="Trebuchet MS"/>
              </a:defRPr>
            </a:pPr>
            <a:r>
              <a:rPr dirty="0"/>
              <a:t>COST_AIRPORT</a:t>
            </a:r>
          </a:p>
          <a:p>
            <a:pPr>
              <a:spcAft>
                <a:spcPts val="600"/>
              </a:spcAft>
              <a:defRPr sz="1000" b="1">
                <a:solidFill>
                  <a:srgbClr val="F3F4F6"/>
                </a:solidFill>
                <a:latin typeface="Segoe UI"/>
              </a:defRPr>
            </a:pPr>
            <a:r>
              <a:rPr dirty="0"/>
              <a:t>Formula: Large: $10,000 | Medium: $5,000</a:t>
            </a:r>
          </a:p>
          <a:p>
            <a:pPr>
              <a:lnSpc>
                <a:spcPct val="110000"/>
              </a:lnSpc>
              <a:defRPr sz="900">
                <a:solidFill>
                  <a:srgbClr val="9CA3AF"/>
                </a:solidFill>
                <a:latin typeface="Segoe UI"/>
              </a:defRPr>
            </a:pPr>
            <a:r>
              <a:rPr dirty="0"/>
              <a:t>Fixed destination airport landing operational fee. Evaluated per leg using Airport_Codes.csv sizes.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023360"/>
            <a:ext cx="3328416" cy="21031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4160520"/>
            <a:ext cx="3054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6E40"/>
                </a:solidFill>
                <a:latin typeface="Trebuchet MS"/>
              </a:defRPr>
            </a:pPr>
            <a:r>
              <a:t>COST_DELAY</a:t>
            </a:r>
          </a:p>
          <a:p>
            <a:pPr>
              <a:spcAft>
                <a:spcPts val="600"/>
              </a:spcAft>
              <a:defRPr sz="1000" b="1">
                <a:solidFill>
                  <a:srgbClr val="F3F4F6"/>
                </a:solidFill>
                <a:latin typeface="Segoe UI"/>
              </a:defRPr>
            </a:pPr>
            <a:r>
              <a:t>Formula: (Delay - 15) * $75 / minute</a:t>
            </a:r>
          </a:p>
          <a:p>
            <a:pPr>
              <a:lnSpc>
                <a:spcPct val="110000"/>
              </a:lnSpc>
              <a:defRPr sz="900">
                <a:solidFill>
                  <a:srgbClr val="9CA3AF"/>
                </a:solidFill>
                <a:latin typeface="Segoe UI"/>
              </a:defRPr>
            </a:pPr>
            <a:r>
              <a:t>Punctuality penalty. Tracks departure/arrival delays over 15 minutes at $75/min in added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04 / MARKET DEMAND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Busiest Round-Trip Routes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>
                <a:solidFill>
                  <a:srgbClr val="F3F4F6"/>
                </a:solidFill>
                <a:latin typeface="Segoe UI"/>
              </a:rPr>
              <a:t>Volume Indicated Liquidity</a:t>
            </a:r>
            <a:r>
              <a:rPr sz="1100">
                <a:solidFill>
                  <a:srgbClr val="9CA3AF"/>
                </a:solidFill>
                <a:latin typeface="Segoe UI"/>
              </a:rPr>
              <a:t>: High flight volume indicates deep, sustained commercial demand between cities.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>
                <a:solidFill>
                  <a:srgbClr val="F3F4F6"/>
                </a:solidFill>
                <a:latin typeface="Segoe UI"/>
              </a:rPr>
              <a:t>Market Constraints</a:t>
            </a:r>
            <a:r>
              <a:rPr sz="1100">
                <a:solidFill>
                  <a:srgbClr val="9CA3AF"/>
                </a:solidFill>
                <a:latin typeface="Segoe UI"/>
              </a:rPr>
              <a:t>: However, high-volume routes are extremely competitive, leading to severe yield compression.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>
                <a:solidFill>
                  <a:srgbClr val="F3F4F6"/>
                </a:solidFill>
                <a:latin typeface="Segoe UI"/>
              </a:rPr>
              <a:t>Transcontinental Standout</a:t>
            </a:r>
            <a:r>
              <a:rPr sz="1100">
                <a:solidFill>
                  <a:srgbClr val="9CA3AF"/>
                </a:solidFill>
                <a:latin typeface="Segoe UI"/>
              </a:rPr>
              <a:t>: </a:t>
            </a:r>
            <a:r>
              <a:rPr sz="1100" b="1">
                <a:solidFill>
                  <a:srgbClr val="F3F4F6"/>
                </a:solidFill>
                <a:latin typeface="Segoe UI"/>
              </a:rPr>
              <a:t>JFK-LAX</a:t>
            </a:r>
            <a:r>
              <a:rPr sz="1100">
                <a:solidFill>
                  <a:srgbClr val="9CA3AF"/>
                </a:solidFill>
                <a:latin typeface="Segoe UI"/>
              </a:rPr>
              <a:t> is the only transcontinental route in the top 5 busiest routes, showcasing its massive scale.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65760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Round Trips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Avg Distance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LAX - SFO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4,170.0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337 mi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LGA - ORD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3,578.0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733 mi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LAS - LAX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3,255.5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236 mi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JFK - LAX (Rec)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3,160.0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2,475 mi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LAX - SEA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2,499.5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954 mi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1_busiest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441415"/>
            <a:ext cx="5022799" cy="2981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05 / FINANCIAL ASSESSMENT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Most Profitable Round-Trip Routes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>
                <a:solidFill>
                  <a:srgbClr val="F3F4F6"/>
                </a:solidFill>
                <a:latin typeface="Segoe UI"/>
              </a:rPr>
              <a:t>Scale Matters</a:t>
            </a:r>
            <a:r>
              <a:rPr sz="1100">
                <a:solidFill>
                  <a:srgbClr val="9CA3AF"/>
                </a:solidFill>
                <a:latin typeface="Segoe UI"/>
              </a:rPr>
              <a:t>: Profits are calculated at the individual flight leg level by mapping fare average yield against physical costs.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>
                <a:solidFill>
                  <a:srgbClr val="F3F4F6"/>
                </a:solidFill>
                <a:latin typeface="Segoe UI"/>
              </a:rPr>
              <a:t>Transcon Dominance</a:t>
            </a:r>
            <a:r>
              <a:rPr sz="1100">
                <a:solidFill>
                  <a:srgbClr val="9CA3AF"/>
                </a:solidFill>
                <a:latin typeface="Segoe UI"/>
              </a:rPr>
              <a:t>: Long-haul transcontinental flights sweep the top 3 spots, fueled by high ticket fares.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>
                <a:solidFill>
                  <a:srgbClr val="F3F4F6"/>
                </a:solidFill>
                <a:latin typeface="Segoe UI"/>
              </a:rPr>
              <a:t>Regional Outlier</a:t>
            </a:r>
            <a:r>
              <a:rPr sz="1100">
                <a:solidFill>
                  <a:srgbClr val="9CA3AF"/>
                </a:solidFill>
                <a:latin typeface="Segoe UI"/>
              </a:rPr>
              <a:t>: </a:t>
            </a:r>
            <a:r>
              <a:rPr sz="1100" b="1">
                <a:solidFill>
                  <a:srgbClr val="F3F4F6"/>
                </a:solidFill>
                <a:latin typeface="Segoe UI"/>
              </a:rPr>
              <a:t>CLT-FLO</a:t>
            </a:r>
            <a:r>
              <a:rPr sz="1100">
                <a:solidFill>
                  <a:srgbClr val="9CA3AF"/>
                </a:solidFill>
                <a:latin typeface="Segoe UI"/>
              </a:rPr>
              <a:t> appears at #8 due to regional monopoly pricing, but it represents a tiny regional market.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65760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Q1 Net Profit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Avg Fare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Round Trips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JFK - LAX (Rec)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$195.6M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$964.35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3,160.0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EWR - SFO (Rec)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$82.8M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$1,050.82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1,212.0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JFK - SFO (Rec)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$82.8M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$860.38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1,860.5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DCA - ORD (Rec)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$72.4M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$535.33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1,847.5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ATL - CLT (Rec)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$68.6M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$508.35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1,538.0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2_profitable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481078"/>
            <a:ext cx="5022799" cy="29016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06 / FLEET INVESTMENT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Recommended Route Portfolio &amp; Full Airport Identification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41148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965960" cy="10972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3F4F6"/>
                </a:solidFill>
                <a:latin typeface="Trebuchet MS"/>
              </a:defRPr>
            </a:pPr>
            <a:r>
              <a:t>JFK-LAX</a:t>
            </a:r>
          </a:p>
          <a:p>
            <a:pPr>
              <a:lnSpc>
                <a:spcPct val="110000"/>
              </a:lnSpc>
              <a:spcAft>
                <a:spcPts val="1400"/>
              </a:spcAft>
              <a:defRPr sz="950">
                <a:solidFill>
                  <a:srgbClr val="9CA3AF"/>
                </a:solidFill>
                <a:latin typeface="Segoe UI"/>
              </a:defRPr>
            </a:pPr>
            <a:r>
              <a:t>New York John F. Kennedy Int'l (JFK) to Los Angeles Int'l (LAX). Undisputed premium transcon corridor.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Net Profit: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$195.6M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Avg Fare: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$964.35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RT Flights: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3,160.0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6936" y="1645920"/>
            <a:ext cx="1965960" cy="41148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C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16936" y="1645920"/>
            <a:ext cx="1965960" cy="109728"/>
          </a:xfrm>
          <a:prstGeom prst="rect">
            <a:avLst/>
          </a:prstGeom>
          <a:solidFill>
            <a:srgbClr val="FFC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08376" y="182880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3F4F6"/>
                </a:solidFill>
                <a:latin typeface="Trebuchet MS"/>
              </a:defRPr>
            </a:pPr>
            <a:r>
              <a:t>EWR-SFO</a:t>
            </a:r>
          </a:p>
          <a:p>
            <a:pPr>
              <a:lnSpc>
                <a:spcPct val="110000"/>
              </a:lnSpc>
              <a:spcAft>
                <a:spcPts val="1400"/>
              </a:spcAft>
              <a:defRPr sz="950">
                <a:solidFill>
                  <a:srgbClr val="9CA3AF"/>
                </a:solidFill>
                <a:latin typeface="Segoe UI"/>
              </a:defRPr>
            </a:pPr>
            <a:r>
              <a:t>Newark Liberty Int'l (EWR) to San Francisco Int'l (SFO). Tech-finance corridor. Highest U.S. average fare.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Net Profit: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$82.8M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Avg Fare: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$1,050.82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RT Flights: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1,212.0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1645920"/>
            <a:ext cx="1965960" cy="41148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02352" y="1645920"/>
            <a:ext cx="1965960" cy="109728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182880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3F4F6"/>
                </a:solidFill>
                <a:latin typeface="Trebuchet MS"/>
              </a:defRPr>
            </a:pPr>
            <a:r>
              <a:t>JFK-SFO</a:t>
            </a:r>
          </a:p>
          <a:p>
            <a:pPr>
              <a:lnSpc>
                <a:spcPct val="110000"/>
              </a:lnSpc>
              <a:spcAft>
                <a:spcPts val="1400"/>
              </a:spcAft>
              <a:defRPr sz="950">
                <a:solidFill>
                  <a:srgbClr val="9CA3AF"/>
                </a:solidFill>
                <a:latin typeface="Segoe UI"/>
              </a:defRPr>
            </a:pPr>
            <a:r>
              <a:t>New York JFK to San Francisco Int'l (SFO). Pairs with JFK-LAX &amp; EWR-SFO for maximum network capture.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Net Profit: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$82.8M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Avg Fare: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$860.38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RT Flights: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1,860.5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7768" y="1645920"/>
            <a:ext cx="1965960" cy="41148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C7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87768" y="1645920"/>
            <a:ext cx="1965960" cy="109728"/>
          </a:xfrm>
          <a:prstGeom prst="rect">
            <a:avLst/>
          </a:prstGeom>
          <a:solidFill>
            <a:srgbClr val="0C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9208" y="182880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3F4F6"/>
                </a:solidFill>
                <a:latin typeface="Trebuchet MS"/>
              </a:defRPr>
            </a:pPr>
            <a:r>
              <a:t>DCA-ORD</a:t>
            </a:r>
          </a:p>
          <a:p>
            <a:pPr>
              <a:lnSpc>
                <a:spcPct val="110000"/>
              </a:lnSpc>
              <a:spcAft>
                <a:spcPts val="1400"/>
              </a:spcAft>
              <a:defRPr sz="950">
                <a:solidFill>
                  <a:srgbClr val="9CA3AF"/>
                </a:solidFill>
                <a:latin typeface="Segoe UI"/>
              </a:defRPr>
            </a:pPr>
            <a:r>
              <a:t>Washington Reagan National (DCA) to Chicago O'Hare Int'l (ORD). High-volume corporate business trunk.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Net Profit: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$72.4M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Avg Fare: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$535.33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RT Flights: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1,847.5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3184" y="1645920"/>
            <a:ext cx="1965960" cy="41148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75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473184" y="1645920"/>
            <a:ext cx="1965960" cy="109728"/>
          </a:xfrm>
          <a:prstGeom prst="rect">
            <a:avLst/>
          </a:prstGeom>
          <a:solidFill>
            <a:srgbClr val="17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64624" y="182880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3F4F6"/>
                </a:solidFill>
                <a:latin typeface="Trebuchet MS"/>
              </a:defRPr>
            </a:pPr>
            <a:r>
              <a:t>ATL-CLT</a:t>
            </a:r>
          </a:p>
          <a:p>
            <a:pPr>
              <a:lnSpc>
                <a:spcPct val="110000"/>
              </a:lnSpc>
              <a:spcAft>
                <a:spcPts val="1400"/>
              </a:spcAft>
              <a:defRPr sz="950">
                <a:solidFill>
                  <a:srgbClr val="9CA3AF"/>
                </a:solidFill>
                <a:latin typeface="Segoe UI"/>
              </a:defRPr>
            </a:pPr>
            <a:r>
              <a:t>Hartsfield-Jackson Atlanta (ATL) to Charlotte Douglas (CLT). Low-cost regional southeastern powerhouse.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Net Profit: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$68.6M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Avg Fare: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$508.35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9CA3AF"/>
                </a:solidFill>
                <a:latin typeface="Segoe UI"/>
              </a:rPr>
              <a:t>RT Flights:
</a:t>
            </a:r>
            <a:r>
              <a:rPr sz="1300" b="1">
                <a:solidFill>
                  <a:srgbClr val="FFC13B"/>
                </a:solidFill>
                <a:latin typeface="Trebuchet MS"/>
              </a:rPr>
              <a:t>1,538.0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943600"/>
            <a:ext cx="10728655" cy="6400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961888"/>
            <a:ext cx="104543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F6E40"/>
                </a:solidFill>
                <a:latin typeface="Trebuchet MS"/>
              </a:rPr>
              <a:t>CRITICAL STRATEGIC FOCUS: </a:t>
            </a:r>
            <a:r>
              <a:rPr sz="950">
                <a:solidFill>
                  <a:srgbClr val="F3F4F6"/>
                </a:solidFill>
                <a:latin typeface="Segoe UI"/>
              </a:rPr>
              <a:t>Avoided regional monopoly CLT-FLO despite extreme raw fares ($1,999). Operating 200-seat aircraft in a small 3-flight-per-day market is physically unviable and would collapse prices. Mainline assets require high-density, deep markets.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07 / FINANCIAL BREAKEVEN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Capital Breakeven Analysis ($90M Aircraft)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>
                <a:solidFill>
                  <a:srgbClr val="F3F4F6"/>
                </a:solidFill>
                <a:latin typeface="Segoe UI"/>
              </a:rPr>
              <a:t>Upfront Investment</a:t>
            </a:r>
            <a:r>
              <a:rPr sz="1100">
                <a:solidFill>
                  <a:srgbClr val="9CA3AF"/>
                </a:solidFill>
                <a:latin typeface="Segoe UI"/>
              </a:rPr>
              <a:t>: Each dedicated aircraft requires a </a:t>
            </a:r>
            <a:r>
              <a:rPr sz="1100" b="1">
                <a:solidFill>
                  <a:srgbClr val="F3F4F6"/>
                </a:solidFill>
                <a:latin typeface="Segoe UI"/>
              </a:rPr>
              <a:t>$90,000,000</a:t>
            </a:r>
            <a:r>
              <a:rPr sz="1100">
                <a:solidFill>
                  <a:srgbClr val="9CA3AF"/>
                </a:solidFill>
                <a:latin typeface="Segoe UI"/>
              </a:rPr>
              <a:t> capital expenditure.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>
                <a:solidFill>
                  <a:srgbClr val="F3F4F6"/>
                </a:solidFill>
                <a:latin typeface="Segoe UI"/>
              </a:rPr>
              <a:t>Breakeven Speed</a:t>
            </a:r>
            <a:r>
              <a:rPr sz="1100">
                <a:solidFill>
                  <a:srgbClr val="9CA3AF"/>
                </a:solidFill>
                <a:latin typeface="Segoe UI"/>
              </a:rPr>
              <a:t>: </a:t>
            </a:r>
            <a:r>
              <a:rPr sz="1100" b="1">
                <a:solidFill>
                  <a:srgbClr val="F3F4F6"/>
                </a:solidFill>
                <a:latin typeface="Segoe UI"/>
              </a:rPr>
              <a:t>EWR-SFO</a:t>
            </a:r>
            <a:r>
              <a:rPr sz="1100">
                <a:solidFill>
                  <a:srgbClr val="9CA3AF"/>
                </a:solidFill>
                <a:latin typeface="Segoe UI"/>
              </a:rPr>
              <a:t> offers the fastest flight amortization (1,317 RTs) due to its massive $68k profit per round trip.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>
                <a:solidFill>
                  <a:srgbClr val="F3F4F6"/>
                </a:solidFill>
                <a:latin typeface="Segoe UI"/>
              </a:rPr>
              <a:t>Days to Breakeven</a:t>
            </a:r>
            <a:r>
              <a:rPr sz="1100">
                <a:solidFill>
                  <a:srgbClr val="9CA3AF"/>
                </a:solidFill>
                <a:latin typeface="Segoe UI"/>
              </a:rPr>
              <a:t>: Based on capturing average Q1 daily volumes, aircraft cost is fully amortized in under 120 days.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65760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Profit / RT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Breakeven RTs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Projected Days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EWR - SFO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$68,324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1,317 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98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JFK - LAX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$61,902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1,454 RTs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41 Days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ATL - CLT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$44,602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2,018 RTs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118 Days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JFK - SFO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$44,503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2,022 RTs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98 Days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DCA - ORD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$39,213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2,295 RTs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112 Days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3_breakeve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390234"/>
            <a:ext cx="5022799" cy="30833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08 / BUSINESS DRIVERS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Recommended Routes: Profitability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Dual Engines of Profit</a:t>
            </a:r>
            <a:r>
              <a:rPr sz="1300">
                <a:solidFill>
                  <a:srgbClr val="9CA3AF"/>
                </a:solidFill>
                <a:latin typeface="Segoe UI"/>
              </a:rPr>
              <a:t>: High load factor (occupancy rate) and premium fares are the core engines of profitability.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High Fare, High Yield</a:t>
            </a:r>
            <a:r>
              <a:rPr sz="1300">
                <a:solidFill>
                  <a:srgbClr val="9CA3AF"/>
                </a:solidFill>
                <a:latin typeface="Segoe UI"/>
              </a:rPr>
              <a:t>: </a:t>
            </a:r>
            <a:r>
              <a:rPr sz="1300" b="1">
                <a:solidFill>
                  <a:srgbClr val="F3F4F6"/>
                </a:solidFill>
                <a:latin typeface="Segoe UI"/>
              </a:rPr>
              <a:t>EWR-SFO</a:t>
            </a:r>
            <a:r>
              <a:rPr sz="1300">
                <a:solidFill>
                  <a:srgbClr val="9CA3AF"/>
                </a:solidFill>
                <a:latin typeface="Segoe UI"/>
              </a:rPr>
              <a:t> and </a:t>
            </a:r>
            <a:r>
              <a:rPr sz="1300" b="1">
                <a:solidFill>
                  <a:srgbClr val="F3F4F6"/>
                </a:solidFill>
                <a:latin typeface="Segoe UI"/>
              </a:rPr>
              <a:t>JFK-LAX</a:t>
            </a:r>
            <a:r>
              <a:rPr sz="1300">
                <a:solidFill>
                  <a:srgbClr val="9CA3AF"/>
                </a:solidFill>
                <a:latin typeface="Segoe UI"/>
              </a:rPr>
              <a:t> occupy the sweet spot of massive premium transcontinental yields.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Short Haul Capacity</a:t>
            </a:r>
            <a:r>
              <a:rPr sz="1300">
                <a:solidFill>
                  <a:srgbClr val="9CA3AF"/>
                </a:solidFill>
                <a:latin typeface="Segoe UI"/>
              </a:rPr>
              <a:t>: </a:t>
            </a:r>
            <a:r>
              <a:rPr sz="1300" b="1">
                <a:solidFill>
                  <a:srgbClr val="F3F4F6"/>
                </a:solidFill>
                <a:latin typeface="Segoe UI"/>
              </a:rPr>
              <a:t>ATL-CLT</a:t>
            </a:r>
            <a:r>
              <a:rPr sz="1300">
                <a:solidFill>
                  <a:srgbClr val="9CA3AF"/>
                </a:solidFill>
                <a:latin typeface="Segoe UI"/>
              </a:rPr>
              <a:t> bypasses normal distance limits with high fares ($508) and tiny operating costs ($2,074/leg).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Network Leverage</a:t>
            </a:r>
            <a:r>
              <a:rPr sz="1300">
                <a:solidFill>
                  <a:srgbClr val="9CA3AF"/>
                </a:solidFill>
                <a:latin typeface="Segoe UI"/>
              </a:rPr>
              <a:t>: Operating multiple endpoints from New York (JFK/EWR) to San Francisco/Los Angeles maximizes aircraft routing flexibility and capture.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4_profitability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313803"/>
            <a:ext cx="5022799" cy="32362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09 / OPERATIONAL RISK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On-Time Performance &amp; Operational Delay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 dirty="0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 dirty="0">
                <a:solidFill>
                  <a:srgbClr val="F3F4F6"/>
                </a:solidFill>
                <a:latin typeface="Segoe UI"/>
              </a:rPr>
              <a:t>Brand Promise</a:t>
            </a:r>
            <a:r>
              <a:rPr sz="1100" dirty="0">
                <a:solidFill>
                  <a:srgbClr val="9CA3AF"/>
                </a:solidFill>
                <a:latin typeface="Segoe UI"/>
              </a:rPr>
              <a:t>: Our brand motto is *'On time, for you'*. Minimizing delays is not just a marketing slogan—it directly protects our high-yield margins.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 dirty="0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 dirty="0">
                <a:solidFill>
                  <a:srgbClr val="F3F4F6"/>
                </a:solidFill>
                <a:latin typeface="Segoe UI"/>
              </a:rPr>
              <a:t>Delay Cost Penalties</a:t>
            </a:r>
            <a:r>
              <a:rPr sz="1100" dirty="0">
                <a:solidFill>
                  <a:srgbClr val="9CA3AF"/>
                </a:solidFill>
                <a:latin typeface="Segoe UI"/>
              </a:rPr>
              <a:t>: Delays over 15 minutes incur heavy crew and gate penalties of </a:t>
            </a:r>
            <a:r>
              <a:rPr sz="1100" b="1" dirty="0">
                <a:solidFill>
                  <a:srgbClr val="F3F4F6"/>
                </a:solidFill>
                <a:latin typeface="Segoe UI"/>
              </a:rPr>
              <a:t>$75.00 per minute</a:t>
            </a:r>
            <a:r>
              <a:rPr sz="1100" dirty="0">
                <a:solidFill>
                  <a:srgbClr val="9CA3AF"/>
                </a:solidFill>
                <a:latin typeface="Segoe UI"/>
              </a:rPr>
              <a:t> for departure and arrival.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 dirty="0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 dirty="0">
                <a:solidFill>
                  <a:srgbClr val="F3F4F6"/>
                </a:solidFill>
                <a:latin typeface="Segoe UI"/>
              </a:rPr>
              <a:t>Newark (EWR) Turnaround Focus</a:t>
            </a:r>
            <a:r>
              <a:rPr sz="1100" dirty="0">
                <a:solidFill>
                  <a:srgbClr val="9CA3AF"/>
                </a:solidFill>
                <a:latin typeface="Segoe UI"/>
              </a:rPr>
              <a:t>: </a:t>
            </a:r>
            <a:r>
              <a:rPr sz="1100" b="1" dirty="0">
                <a:solidFill>
                  <a:srgbClr val="F3F4F6"/>
                </a:solidFill>
                <a:latin typeface="Segoe UI"/>
              </a:rPr>
              <a:t>EWR-SFO</a:t>
            </a:r>
            <a:r>
              <a:rPr sz="1100" dirty="0">
                <a:solidFill>
                  <a:srgbClr val="9CA3AF"/>
                </a:solidFill>
                <a:latin typeface="Segoe UI"/>
              </a:rPr>
              <a:t> has the highest average delay penalty (</a:t>
            </a:r>
            <a:r>
              <a:rPr sz="1100" b="1" dirty="0">
                <a:solidFill>
                  <a:srgbClr val="F3F4F6"/>
                </a:solidFill>
                <a:latin typeface="Segoe UI"/>
              </a:rPr>
              <a:t>$5,720 per round trip</a:t>
            </a:r>
            <a:r>
              <a:rPr sz="1100" dirty="0">
                <a:solidFill>
                  <a:srgbClr val="9CA3AF"/>
                </a:solidFill>
                <a:latin typeface="Segoe UI"/>
              </a:rPr>
              <a:t>). We must implement tight ground-turn execution and dedicated gates at Newark to mitigate this risk.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00" b="1" dirty="0">
                <a:solidFill>
                  <a:srgbClr val="FF6E40"/>
                </a:solidFill>
                <a:latin typeface="Segoe UI"/>
              </a:rPr>
              <a:t>✦  </a:t>
            </a:r>
            <a:r>
              <a:rPr sz="1100" b="1" dirty="0">
                <a:solidFill>
                  <a:srgbClr val="F3F4F6"/>
                </a:solidFill>
                <a:latin typeface="Segoe UI"/>
              </a:rPr>
              <a:t>ATL-CLT Stability</a:t>
            </a:r>
            <a:r>
              <a:rPr sz="1100" dirty="0">
                <a:solidFill>
                  <a:srgbClr val="9CA3AF"/>
                </a:solidFill>
                <a:latin typeface="Segoe UI"/>
              </a:rPr>
              <a:t>: The regional short haul </a:t>
            </a:r>
            <a:r>
              <a:rPr sz="1100" b="1" dirty="0">
                <a:solidFill>
                  <a:srgbClr val="F3F4F6"/>
                </a:solidFill>
                <a:latin typeface="Segoe UI"/>
              </a:rPr>
              <a:t>ATL-CLT</a:t>
            </a:r>
            <a:r>
              <a:rPr sz="1100" dirty="0">
                <a:solidFill>
                  <a:srgbClr val="9CA3AF"/>
                </a:solidFill>
                <a:latin typeface="Segoe UI"/>
              </a:rPr>
              <a:t> is highly stable, with a tiny average delay penalty of only </a:t>
            </a:r>
            <a:r>
              <a:rPr sz="1100" b="1" dirty="0">
                <a:solidFill>
                  <a:srgbClr val="F3F4F6"/>
                </a:solidFill>
                <a:latin typeface="Segoe UI"/>
              </a:rPr>
              <a:t>$1,762 per round trip</a:t>
            </a:r>
            <a:r>
              <a:rPr sz="1100" dirty="0">
                <a:solidFill>
                  <a:srgbClr val="9CA3AF"/>
                </a:solidFill>
                <a:latin typeface="Segoe UI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645920"/>
          <a:ext cx="52422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0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Q1 Delays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Avg Delay / RT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6E40"/>
                          </a:solidFill>
                          <a:latin typeface="Trebuchet MS"/>
                        </a:defRPr>
                      </a:pPr>
                      <a:r>
                        <a:t>Risk Assessment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EWR - SFO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$6.93M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$5,720 / 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HIGH RISK (Turnaround Focus)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JFK - SFO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$8.17M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$4,391 / RT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MODERATE RISK (JFK Congestion)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DCA - ORD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$6.39M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$3,456 / RT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MODERATE RISK (Weather Slots)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JFK - LAX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$8.18M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$2,588 / RT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LOW-MODERATE RISK (Dense Trunk)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ATL - CLT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$2.71M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$1,762 / RT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LOW RISK (High Resilience)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4754880"/>
            <a:ext cx="5242255" cy="13716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4800600"/>
            <a:ext cx="49679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OPERATIONAL MITIGATION PLAN:</a:t>
            </a:r>
          </a:p>
          <a:p>
            <a:pPr>
              <a:lnSpc>
                <a:spcPct val="110000"/>
              </a:lnSpc>
              <a:defRPr sz="950">
                <a:solidFill>
                  <a:srgbClr val="F3F4F6"/>
                </a:solidFill>
                <a:latin typeface="Segoe UI"/>
              </a:defRPr>
            </a:pPr>
            <a:r>
              <a:t>Establish standby crews and secondary routing options for our premium transcontinental routes (EWR/JFK to SFO) to absorb localized hub congestion and protect our customer on-time experience.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10 / OPERATIONS CONTROL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Strategic Key Performance Indicators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40233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28416" cy="9144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6E40"/>
                </a:solidFill>
                <a:latin typeface="Trebuchet MS"/>
              </a:defRPr>
            </a:pPr>
            <a:r>
              <a:rPr dirty="0"/>
              <a:t>01</a:t>
            </a:r>
          </a:p>
          <a:p>
            <a:pPr>
              <a:spcAft>
                <a:spcPts val="1400"/>
              </a:spcAft>
              <a:defRPr sz="1500" b="1">
                <a:solidFill>
                  <a:srgbClr val="F3F4F6"/>
                </a:solidFill>
                <a:latin typeface="Trebuchet MS"/>
              </a:defRPr>
            </a:pPr>
            <a:r>
              <a:rPr dirty="0"/>
              <a:t>On-Time Performance (OTP)</a:t>
            </a:r>
          </a:p>
          <a:p>
            <a:pPr>
              <a:lnSpc>
                <a:spcPct val="115000"/>
              </a:lnSpc>
              <a:defRPr sz="1050">
                <a:latin typeface="Segoe UI"/>
              </a:defRPr>
            </a:pPr>
            <a:r>
              <a:rPr sz="1050" dirty="0">
                <a:solidFill>
                  <a:srgbClr val="9CA3AF"/>
                </a:solidFill>
                <a:latin typeface="Segoe UI"/>
              </a:rPr>
              <a:t>Track D15/A15 departure and arrival delay percentages.
</a:t>
            </a:r>
            <a:r>
              <a:rPr sz="1050" b="1" dirty="0">
                <a:solidFill>
                  <a:srgbClr val="FFC13B"/>
                </a:solidFill>
                <a:latin typeface="Segoe UI"/>
              </a:rPr>
              <a:t>Bottom Line</a:t>
            </a:r>
            <a:r>
              <a:rPr sz="1050" dirty="0">
                <a:solidFill>
                  <a:srgbClr val="9CA3AF"/>
                </a:solidFill>
                <a:latin typeface="Segoe UI"/>
              </a:rPr>
              <a:t>: Since delays over 15 minutes cost </a:t>
            </a:r>
            <a:r>
              <a:rPr sz="1050" b="1" dirty="0">
                <a:solidFill>
                  <a:srgbClr val="FFC13B"/>
                </a:solidFill>
                <a:latin typeface="Segoe UI"/>
              </a:rPr>
              <a:t>$75 per minute</a:t>
            </a:r>
            <a:r>
              <a:rPr sz="1050" dirty="0">
                <a:solidFill>
                  <a:srgbClr val="9CA3AF"/>
                </a:solidFill>
                <a:latin typeface="Segoe UI"/>
              </a:rPr>
              <a:t>, maintaining a 90%+ OTP directly protects our operating margins.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011680"/>
            <a:ext cx="3328416" cy="40233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25696" y="2011680"/>
            <a:ext cx="3328416" cy="9144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2856" y="224028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6E40"/>
                </a:solidFill>
                <a:latin typeface="Trebuchet MS"/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sz="1500" b="1">
                <a:solidFill>
                  <a:srgbClr val="F3F4F6"/>
                </a:solidFill>
                <a:latin typeface="Trebuchet MS"/>
              </a:defRPr>
            </a:pPr>
            <a:r>
              <a:t>Route Load Factor</a:t>
            </a:r>
          </a:p>
          <a:p>
            <a:pPr>
              <a:lnSpc>
                <a:spcPct val="115000"/>
              </a:lnSpc>
              <a:defRPr sz="1050">
                <a:latin typeface="Segoe UI"/>
              </a:defRPr>
            </a:pPr>
            <a:r>
              <a:rPr sz="1050">
                <a:solidFill>
                  <a:srgbClr val="9CA3AF"/>
                </a:solidFill>
                <a:latin typeface="Segoe UI"/>
              </a:rPr>
              <a:t>Percentage of the 200 seats filled by paying passengers.
</a:t>
            </a:r>
            <a:r>
              <a:rPr sz="1050" b="1">
                <a:solidFill>
                  <a:srgbClr val="FFC13B"/>
                </a:solidFill>
                <a:latin typeface="Segoe UI"/>
              </a:rPr>
              <a:t>Bottom Line</a:t>
            </a:r>
            <a:r>
              <a:rPr sz="1050">
                <a:solidFill>
                  <a:srgbClr val="9CA3AF"/>
                </a:solidFill>
                <a:latin typeface="Segoe UI"/>
              </a:rPr>
              <a:t>: Occupancy is the core scaler of revenue. An extra 1% load factor on JFK-LAX yields </a:t>
            </a:r>
            <a:r>
              <a:rPr sz="1050" b="1">
                <a:solidFill>
                  <a:srgbClr val="FFC13B"/>
                </a:solidFill>
                <a:latin typeface="Segoe UI"/>
              </a:rPr>
              <a:t>$1.5M/quarter</a:t>
            </a:r>
            <a:r>
              <a:rPr sz="1050">
                <a:solidFill>
                  <a:srgbClr val="9CA3AF"/>
                </a:solidFill>
                <a:latin typeface="Segoe UI"/>
              </a:rPr>
              <a:t> in high-margin revenues.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011680"/>
            <a:ext cx="3328416" cy="40233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2" y="2011680"/>
            <a:ext cx="3328416" cy="9144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2" y="224028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6E40"/>
                </a:solidFill>
                <a:latin typeface="Trebuchet MS"/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1500" b="1">
                <a:solidFill>
                  <a:srgbClr val="F3F4F6"/>
                </a:solidFill>
                <a:latin typeface="Trebuchet MS"/>
              </a:defRPr>
            </a:pPr>
            <a:r>
              <a:t>Yield/Seat Mile (YASM)</a:t>
            </a:r>
          </a:p>
          <a:p>
            <a:pPr>
              <a:lnSpc>
                <a:spcPct val="115000"/>
              </a:lnSpc>
              <a:defRPr sz="1050">
                <a:latin typeface="Segoe UI"/>
              </a:defRPr>
            </a:pPr>
            <a:r>
              <a:rPr sz="1050">
                <a:solidFill>
                  <a:srgbClr val="9CA3AF"/>
                </a:solidFill>
                <a:latin typeface="Segoe UI"/>
              </a:rPr>
              <a:t>Total leg ticket and bag revenue divided by Available Seat Miles (Seats * Distance).
</a:t>
            </a:r>
            <a:r>
              <a:rPr sz="1050" b="1">
                <a:solidFill>
                  <a:srgbClr val="FFC13B"/>
                </a:solidFill>
                <a:latin typeface="Segoe UI"/>
              </a:rPr>
              <a:t>Bottom Line</a:t>
            </a:r>
            <a:r>
              <a:rPr sz="1050">
                <a:solidFill>
                  <a:srgbClr val="9CA3AF"/>
                </a:solidFill>
                <a:latin typeface="Segoe UI"/>
              </a:rPr>
              <a:t>: Measures pricing efficiency and isolates premium transcontinental margins.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6E40"/>
                </a:solidFill>
                <a:latin typeface="Trebuchet MS"/>
              </a:defRPr>
            </a:pPr>
            <a:r>
              <a:t>11 / NEXT STEPS</a:t>
            </a:r>
          </a:p>
          <a:p>
            <a:pPr>
              <a:defRPr sz="2400" b="1">
                <a:solidFill>
                  <a:srgbClr val="F3F4F6"/>
                </a:solidFill>
                <a:latin typeface="Trebuchet MS"/>
              </a:defRPr>
            </a:pPr>
            <a:r>
              <a:t>Ready for Takeoff: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8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Airport Slot &amp; Gate Audit</a:t>
            </a:r>
            <a:r>
              <a:rPr sz="1300">
                <a:solidFill>
                  <a:srgbClr val="9CA3AF"/>
                </a:solidFill>
                <a:latin typeface="Segoe UI"/>
              </a:rPr>
              <a:t>: Secure slot entries and gate allocations at highly congested, slot-controlled hubs (JFK, LGA, DCA).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Full-Year Demand Analysis</a:t>
            </a:r>
            <a:r>
              <a:rPr sz="1300">
                <a:solidFill>
                  <a:srgbClr val="9CA3AF"/>
                </a:solidFill>
                <a:latin typeface="Segoe UI"/>
              </a:rPr>
              <a:t>: Expand modeling to Q2-Q4 DOT databases to capture seasonal passenger pricing elasticity.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Competitor Share Modeling</a:t>
            </a:r>
            <a:r>
              <a:rPr sz="1300">
                <a:solidFill>
                  <a:srgbClr val="9CA3AF"/>
                </a:solidFill>
                <a:latin typeface="Segoe UI"/>
              </a:rPr>
              <a:t>: Assess capacity shares of dominant carriers (Delta, United, American) to optimize entry pricing.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FF6E40"/>
                </a:solidFill>
                <a:latin typeface="Segoe UI"/>
              </a:rPr>
              <a:t>✦  </a:t>
            </a:r>
            <a:r>
              <a:rPr sz="1300" b="1">
                <a:solidFill>
                  <a:srgbClr val="F3F4F6"/>
                </a:solidFill>
                <a:latin typeface="Segoe UI"/>
              </a:rPr>
              <a:t>Baggage Fee Elasticity</a:t>
            </a:r>
            <a:r>
              <a:rPr sz="1300">
                <a:solidFill>
                  <a:srgbClr val="9CA3AF"/>
                </a:solidFill>
                <a:latin typeface="Segoe UI"/>
              </a:rPr>
              <a:t>: Model incremental impact of bag pricing adjustments ($30 vs $35 vs $40) on load factor.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327855" cy="45720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exagon 6"/>
          <p:cNvSpPr/>
          <p:nvPr/>
        </p:nvSpPr>
        <p:spPr>
          <a:xfrm>
            <a:off x="8381390" y="2011680"/>
            <a:ext cx="1828800" cy="1828800"/>
          </a:xfrm>
          <a:prstGeom prst="hexagon">
            <a:avLst/>
          </a:prstGeom>
          <a:solidFill>
            <a:srgbClr val="1E3D59"/>
          </a:solidFill>
          <a:ln w="254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iamond 7"/>
          <p:cNvSpPr/>
          <p:nvPr/>
        </p:nvSpPr>
        <p:spPr>
          <a:xfrm>
            <a:off x="8838590" y="2468880"/>
            <a:ext cx="914400" cy="914400"/>
          </a:xfrm>
          <a:prstGeom prst="diamond">
            <a:avLst/>
          </a:prstGeom>
          <a:solidFill>
            <a:srgbClr val="FFC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4114800"/>
            <a:ext cx="39620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F3F4F6"/>
                </a:solidFill>
                <a:latin typeface="Trebuchet MS"/>
              </a:defRPr>
            </a:pPr>
            <a:r>
              <a:t>"On time, for you."</a:t>
            </a:r>
          </a:p>
          <a:p>
            <a:pPr algn="ctr">
              <a:lnSpc>
                <a:spcPct val="120000"/>
              </a:lnSpc>
              <a:defRPr sz="1100">
                <a:solidFill>
                  <a:srgbClr val="9CA3AF"/>
                </a:solidFill>
                <a:latin typeface="Segoe UI"/>
              </a:defRPr>
            </a:pPr>
            <a:r>
              <a:t>Operational excellence starts with data-driven network design. Our premium 5-route portfolio is financially primed to succeed.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1793</Words>
  <Application>Microsoft Office PowerPoint</Application>
  <PresentationFormat>Widescreen</PresentationFormat>
  <Paragraphs>229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Segoe UI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Tommyfer Agomaa</cp:lastModifiedBy>
  <cp:revision>3</cp:revision>
  <dcterms:created xsi:type="dcterms:W3CDTF">2013-01-27T09:14:16Z</dcterms:created>
  <dcterms:modified xsi:type="dcterms:W3CDTF">2026-05-24T19:51:32Z</dcterms:modified>
  <cp:category/>
</cp:coreProperties>
</file>